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85" r:id="rId6"/>
    <p:sldId id="268" r:id="rId7"/>
    <p:sldId id="286" r:id="rId8"/>
    <p:sldId id="266" r:id="rId9"/>
    <p:sldId id="261" r:id="rId10"/>
    <p:sldId id="290" r:id="rId11"/>
    <p:sldId id="288" r:id="rId12"/>
    <p:sldId id="263" r:id="rId13"/>
    <p:sldId id="278" r:id="rId14"/>
    <p:sldId id="291" r:id="rId15"/>
    <p:sldId id="279" r:id="rId16"/>
    <p:sldId id="292" r:id="rId17"/>
    <p:sldId id="264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81830" autoAdjust="0"/>
  </p:normalViewPr>
  <p:slideViewPr>
    <p:cSldViewPr snapToGrid="0">
      <p:cViewPr varScale="1">
        <p:scale>
          <a:sx n="85" d="100"/>
          <a:sy n="85" d="100"/>
        </p:scale>
        <p:origin x="902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44994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dc2cd92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dc2cd92c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329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dc2cd92c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dc2cd92c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050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c2cd92c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dc2cd92c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746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c2cd92c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c2cd92c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27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A0E73CBA-A32F-F7A7-FE4E-D6BC6666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c2cd92ce_0_17:notes">
            <a:extLst>
              <a:ext uri="{FF2B5EF4-FFF2-40B4-BE49-F238E27FC236}">
                <a16:creationId xmlns:a16="http://schemas.microsoft.com/office/drawing/2014/main" id="{65C0D753-1967-DEC3-412C-63F82E0C3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c2cd92ce_0_17:notes">
            <a:extLst>
              <a:ext uri="{FF2B5EF4-FFF2-40B4-BE49-F238E27FC236}">
                <a16:creationId xmlns:a16="http://schemas.microsoft.com/office/drawing/2014/main" id="{C3712198-A0AF-0A71-1FB2-771E19CAA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729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dc2cd92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dc2cd92c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0794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B652040A-5917-4DD8-ED72-9675F1CB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c2cd92ce_0_17:notes">
            <a:extLst>
              <a:ext uri="{FF2B5EF4-FFF2-40B4-BE49-F238E27FC236}">
                <a16:creationId xmlns:a16="http://schemas.microsoft.com/office/drawing/2014/main" id="{61CEA437-734B-1AE2-D926-6AF9421D3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c2cd92ce_0_17:notes">
            <a:extLst>
              <a:ext uri="{FF2B5EF4-FFF2-40B4-BE49-F238E27FC236}">
                <a16:creationId xmlns:a16="http://schemas.microsoft.com/office/drawing/2014/main" id="{2D0F9626-4A84-A8D5-BF81-858B668133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6353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c2cd92c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c2cd92c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901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c2cd92c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c2cd92c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559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464E59E-BD52-9EF5-5085-E51B1741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c2cd92ce_0_21:notes">
            <a:extLst>
              <a:ext uri="{FF2B5EF4-FFF2-40B4-BE49-F238E27FC236}">
                <a16:creationId xmlns:a16="http://schemas.microsoft.com/office/drawing/2014/main" id="{0F9EE102-9D1F-8E86-F1A8-C5FCE7B4E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c2cd92ce_0_21:notes">
            <a:extLst>
              <a:ext uri="{FF2B5EF4-FFF2-40B4-BE49-F238E27FC236}">
                <a16:creationId xmlns:a16="http://schemas.microsoft.com/office/drawing/2014/main" id="{2B414755-F155-95ED-DF2E-412147400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193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9EC985F7-F0D3-E133-98A0-086E1AA5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c2cd92ce_0_21:notes">
            <a:extLst>
              <a:ext uri="{FF2B5EF4-FFF2-40B4-BE49-F238E27FC236}">
                <a16:creationId xmlns:a16="http://schemas.microsoft.com/office/drawing/2014/main" id="{296E5EFA-FB8D-3226-F46A-8C0580466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c2cd92ce_0_21:notes">
            <a:extLst>
              <a:ext uri="{FF2B5EF4-FFF2-40B4-BE49-F238E27FC236}">
                <a16:creationId xmlns:a16="http://schemas.microsoft.com/office/drawing/2014/main" id="{7A4B2A77-4F78-3211-81C9-887AC575E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545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dc2cd92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dc2cd92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173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59D6D4D-CD2C-0887-DAC9-3F981D954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dc2cd92ce_0_29:notes">
            <a:extLst>
              <a:ext uri="{FF2B5EF4-FFF2-40B4-BE49-F238E27FC236}">
                <a16:creationId xmlns:a16="http://schemas.microsoft.com/office/drawing/2014/main" id="{0068300D-6FC6-1F1B-AE35-B35F6A323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dc2cd92ce_0_29:notes">
            <a:extLst>
              <a:ext uri="{FF2B5EF4-FFF2-40B4-BE49-F238E27FC236}">
                <a16:creationId xmlns:a16="http://schemas.microsoft.com/office/drawing/2014/main" id="{A226FA0B-40C0-85BF-EBF6-CDA6BFCE9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279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149D3BF1-E4D9-CF1C-1A76-61B6718AC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c2cd92ce_0_21:notes">
            <a:extLst>
              <a:ext uri="{FF2B5EF4-FFF2-40B4-BE49-F238E27FC236}">
                <a16:creationId xmlns:a16="http://schemas.microsoft.com/office/drawing/2014/main" id="{D8D9D5F2-CFB4-3F61-0D90-7DDCDE8E64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c2cd92ce_0_21:notes">
            <a:extLst>
              <a:ext uri="{FF2B5EF4-FFF2-40B4-BE49-F238E27FC236}">
                <a16:creationId xmlns:a16="http://schemas.microsoft.com/office/drawing/2014/main" id="{6853FEF8-C596-2605-950C-C791B408A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587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9EDABF2B-3A9E-3B3C-5A08-6F1AE6E9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c2cd92ce_0_21:notes">
            <a:extLst>
              <a:ext uri="{FF2B5EF4-FFF2-40B4-BE49-F238E27FC236}">
                <a16:creationId xmlns:a16="http://schemas.microsoft.com/office/drawing/2014/main" id="{1A3AC64B-6436-7757-B897-8A6DF737F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c2cd92ce_0_21:notes">
            <a:extLst>
              <a:ext uri="{FF2B5EF4-FFF2-40B4-BE49-F238E27FC236}">
                <a16:creationId xmlns:a16="http://schemas.microsoft.com/office/drawing/2014/main" id="{0B7CC2BC-6BCE-99A3-9F7E-3F856817CE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8129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dc2cd92c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dc2cd92c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89B9-B7AF-92A7-B743-D633D07A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B2F30-F660-64D6-03D5-FFC55F33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ED799-BABA-A2A3-34BB-6BEE63A3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1DD-FB43-4875-9A9A-F692B563926A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B5642-54F6-E227-18DD-4104972E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113D-3778-B8A8-4601-D23FCF06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86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113796" y="104338"/>
            <a:ext cx="42198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68CFC-B4E0-1298-B757-CCD526E34DF7}"/>
              </a:ext>
            </a:extLst>
          </p:cNvPr>
          <p:cNvSpPr txBox="1"/>
          <p:nvPr/>
        </p:nvSpPr>
        <p:spPr>
          <a:xfrm>
            <a:off x="1025843" y="969246"/>
            <a:ext cx="68451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 for skill gap analysis and career recommendation.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resume PDF or manually entered skills as input.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and normalizes skills using NLP-based processing.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TF-IDF and Cosine Similarity to calculate role-wise skill match percentage.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Random Forest Classifier to predict a suitable career role.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missing skills and generates a personalized learning roadmap.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analysis history for progress tracking over time.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React.js, Node.js/Express.js, Python, Scikit-learn, and MongoDB.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8911E-5A42-0853-86F5-CDCE71866203}"/>
              </a:ext>
            </a:extLst>
          </p:cNvPr>
          <p:cNvSpPr txBox="1"/>
          <p:nvPr/>
        </p:nvSpPr>
        <p:spPr>
          <a:xfrm>
            <a:off x="2680667" y="47313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| Dept. of  CSE | Batch – XI | </a:t>
            </a:r>
            <a:r>
              <a:rPr lang="en-IN" dirty="0"/>
              <a:t>Final</a:t>
            </a:r>
            <a:r>
              <a:rPr dirty="0"/>
              <a:t> Review |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616916" y="195262"/>
            <a:ext cx="570571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75EF6-2EF7-959E-FEB4-B40981271BF2}"/>
              </a:ext>
            </a:extLst>
          </p:cNvPr>
          <p:cNvSpPr txBox="1"/>
          <p:nvPr/>
        </p:nvSpPr>
        <p:spPr>
          <a:xfrm>
            <a:off x="721112" y="1058301"/>
            <a:ext cx="78578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lack clear, data-driven career guidance based on their existing skills.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portals mainly use keyword-based matching, without measuring the actual skill gap.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recommend roles but often do not provide a quantified skill-match percentage.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skills are not always clearly identified or converted into a personalized learning roadmap.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lack continuous progress tracking to measure improvement in their career readiness.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an integrated, transparent, and personalized system that connects skills → career role → skill gap → learning roadmap.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B3286-1C63-3C91-C9E0-E7BB6B889378}"/>
              </a:ext>
            </a:extLst>
          </p:cNvPr>
          <p:cNvSpPr txBox="1"/>
          <p:nvPr/>
        </p:nvSpPr>
        <p:spPr>
          <a:xfrm>
            <a:off x="2850996" y="472343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| Dept. of  CSE | Batch – XI | </a:t>
            </a:r>
            <a:r>
              <a:rPr lang="en-IN" dirty="0"/>
              <a:t>Final</a:t>
            </a:r>
            <a:r>
              <a:rPr dirty="0"/>
              <a:t> Review |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2189673" y="124690"/>
            <a:ext cx="551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364BC-FCBA-DDB1-FC43-864F99D6CCE1}"/>
              </a:ext>
            </a:extLst>
          </p:cNvPr>
          <p:cNvSpPr txBox="1"/>
          <p:nvPr/>
        </p:nvSpPr>
        <p:spPr>
          <a:xfrm>
            <a:off x="830765" y="982536"/>
            <a:ext cx="77940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Job Portals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resumes with job descriptions mainly using keywords.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Resume Screening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understanding of the candidate's complete skill profile.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Recommendation Systems: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career roles but may not provide a quantified skill-match percentage.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Skill-Gap Analysis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skills are often not explicitly identified against a target career role.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Learning Recommendations: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suggestions may not be directly connected to the user's specific skill gaps.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Progress Tracking: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approaches do not maintain a continuous history of skill-match improvement.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826DB-96AD-4124-76DB-3835F4F90B62}"/>
              </a:ext>
            </a:extLst>
          </p:cNvPr>
          <p:cNvSpPr txBox="1"/>
          <p:nvPr/>
        </p:nvSpPr>
        <p:spPr>
          <a:xfrm>
            <a:off x="2850996" y="472343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| Dept. of  CSE | Batch – XI | </a:t>
            </a:r>
            <a:r>
              <a:rPr lang="en-IN" dirty="0"/>
              <a:t>Final</a:t>
            </a:r>
            <a:r>
              <a:rPr dirty="0"/>
              <a:t> Review |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945738" y="505522"/>
            <a:ext cx="7579697" cy="400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Input: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PDF upload or manual skill entry.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NLP-based processing to extract and normalize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Matching: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+ Cosine Similarity generates role-wise Match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Prediction: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predicts the career role.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missing skills for the selected role.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Roadmap: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missing skills into a structured learning path.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previous analyses to monitor career readiness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Platform: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 with persistent user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1D22F-5133-6284-FCCA-6DCFBA3D62B5}"/>
              </a:ext>
            </a:extLst>
          </p:cNvPr>
          <p:cNvSpPr txBox="1"/>
          <p:nvPr/>
        </p:nvSpPr>
        <p:spPr>
          <a:xfrm>
            <a:off x="2578423" y="463797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939160CC-BC0C-B769-70A6-55C8DD85C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4AF97F40-F225-7756-76A4-54FB210D3DED}"/>
              </a:ext>
            </a:extLst>
          </p:cNvPr>
          <p:cNvSpPr txBox="1"/>
          <p:nvPr/>
        </p:nvSpPr>
        <p:spPr>
          <a:xfrm>
            <a:off x="908567" y="356839"/>
            <a:ext cx="7419645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ctr"/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F0E03-CD50-B01F-0C8E-51965CE91039}"/>
              </a:ext>
            </a:extLst>
          </p:cNvPr>
          <p:cNvSpPr txBox="1"/>
          <p:nvPr/>
        </p:nvSpPr>
        <p:spPr>
          <a:xfrm>
            <a:off x="2756653" y="46656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5AD2F-14C5-998C-238F-8CD771095B67}"/>
              </a:ext>
            </a:extLst>
          </p:cNvPr>
          <p:cNvSpPr txBox="1"/>
          <p:nvPr/>
        </p:nvSpPr>
        <p:spPr>
          <a:xfrm>
            <a:off x="908566" y="1343221"/>
            <a:ext cx="74196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is to develop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intelligent, and integrated AI-powered career guidance platform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user’s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skills, proficiency, educational background, and career interests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suitable career roles. The system 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NLP, TF-IDF, Cosine Similarity, and Machine Learning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perform skill matching, identify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compare existing skills with target-role requirements. It provides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recommendations, missing-skill identification, learning suggestions, and structured career roadmaps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 unified web application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authentication, role-based access, and reliable data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366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006516" y="267332"/>
            <a:ext cx="539859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464E5F-F29D-FDA8-D70B-63B8261EBB63}"/>
              </a:ext>
            </a:extLst>
          </p:cNvPr>
          <p:cNvSpPr txBox="1"/>
          <p:nvPr/>
        </p:nvSpPr>
        <p:spPr>
          <a:xfrm>
            <a:off x="2605417" y="464223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CBD4F2-0816-0BA7-6232-040814002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379321"/>
              </p:ext>
            </p:extLst>
          </p:nvPr>
        </p:nvGraphicFramePr>
        <p:xfrm>
          <a:off x="968189" y="1084729"/>
          <a:ext cx="7467600" cy="326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2549">
                  <a:extLst>
                    <a:ext uri="{9D8B030D-6E8A-4147-A177-3AD203B41FA5}">
                      <a16:colId xmlns:a16="http://schemas.microsoft.com/office/drawing/2014/main" val="623087120"/>
                    </a:ext>
                  </a:extLst>
                </a:gridCol>
                <a:gridCol w="3105851">
                  <a:extLst>
                    <a:ext uri="{9D8B030D-6E8A-4147-A177-3AD203B41FA5}">
                      <a16:colId xmlns:a16="http://schemas.microsoft.com/office/drawing/2014/main" val="1985347724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619495993"/>
                    </a:ext>
                  </a:extLst>
                </a:gridCol>
              </a:tblGrid>
              <a:tr h="362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324577"/>
                  </a:ext>
                </a:extLst>
              </a:tr>
              <a:tr h="514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Ashrafi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+ K-Means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Career recommendation &amp; learning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774281"/>
                  </a:ext>
                </a:extLst>
              </a:tr>
              <a:tr h="514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Rajput et al.,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+ Cosine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analysis &amp; job 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86170"/>
                  </a:ext>
                </a:extLst>
              </a:tr>
              <a:tr h="514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 &amp; Singh,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 + PyPDF2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skill extraction &amp;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334090"/>
                  </a:ext>
                </a:extLst>
              </a:tr>
              <a:tr h="514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Chandak et al.,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+ Cosine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parsing &amp; job 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615528"/>
                  </a:ext>
                </a:extLst>
              </a:tr>
              <a:tr h="302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Decorte et al.,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Bi-Encoder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skill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887536"/>
                  </a:ext>
                </a:extLst>
              </a:tr>
              <a:tr h="514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Anghel et al.,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+ XGBoost + SHAP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resume–job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29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77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F32C3CDB-4363-FBEF-03FA-189EA68E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48FD0F88-ADD2-9499-57B9-6D7D432CCE10}"/>
              </a:ext>
            </a:extLst>
          </p:cNvPr>
          <p:cNvSpPr txBox="1"/>
          <p:nvPr/>
        </p:nvSpPr>
        <p:spPr>
          <a:xfrm>
            <a:off x="930870" y="401443"/>
            <a:ext cx="7655569" cy="415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scores not clearly surfaced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Users lack a measurable skill-match percentage.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career role prediction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Existing systems often depend on basic matching or external platforms.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gaps not explicitly identified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Missing skills are rarely quantified systematically.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learning recommendations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Learning paths are not always personalized to identified gaps.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external/paid services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Some approaches require third-party AI or platform services.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end-to-end integration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Skill analysis, role prediction, gap analysis, learning, and progress tracking are often handled separately.</a:t>
            </a:r>
          </a:p>
          <a:p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6F5A7-4AD7-3754-5B54-988A3A899F9D}"/>
              </a:ext>
            </a:extLst>
          </p:cNvPr>
          <p:cNvSpPr txBox="1"/>
          <p:nvPr/>
        </p:nvSpPr>
        <p:spPr>
          <a:xfrm>
            <a:off x="2779901" y="45881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</p:spTree>
    <p:extLst>
      <p:ext uri="{BB962C8B-B14F-4D97-AF65-F5344CB8AC3E}">
        <p14:creationId xmlns:p14="http://schemas.microsoft.com/office/powerpoint/2010/main" val="3364729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428604" y="131917"/>
            <a:ext cx="667336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64EBD-7CE2-06A0-D0DD-AD1E724F41FA}"/>
              </a:ext>
            </a:extLst>
          </p:cNvPr>
          <p:cNvSpPr txBox="1"/>
          <p:nvPr/>
        </p:nvSpPr>
        <p:spPr>
          <a:xfrm>
            <a:off x="2479286" y="47111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1159E-12E1-EE38-D859-743A5C56AE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16" t="969" r="2335" b="3357"/>
          <a:stretch>
            <a:fillRect/>
          </a:stretch>
        </p:blipFill>
        <p:spPr>
          <a:xfrm>
            <a:off x="2854712" y="788019"/>
            <a:ext cx="3434576" cy="394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2812605" y="47864"/>
            <a:ext cx="551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E6E1E-1F8E-2277-E559-E7CC8D4ADD1E}"/>
              </a:ext>
            </a:extLst>
          </p:cNvPr>
          <p:cNvSpPr txBox="1"/>
          <p:nvPr/>
        </p:nvSpPr>
        <p:spPr>
          <a:xfrm>
            <a:off x="2635405" y="47048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091A7-1112-3215-CF74-197EAB263844}"/>
              </a:ext>
            </a:extLst>
          </p:cNvPr>
          <p:cNvSpPr txBox="1"/>
          <p:nvPr/>
        </p:nvSpPr>
        <p:spPr>
          <a:xfrm>
            <a:off x="891878" y="976090"/>
            <a:ext cx="72032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Management Module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Handles user registration, login, profile details, and skill information.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Skill Processing Module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Collects user skills, cleans the input data, and converts skills into a suitable format for analysis.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Career Prediction Module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and Random Forest Classifier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suitable career roles.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Skill Gap Analysis Module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compare user skills with job requirements and identifies missing skills.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Result &amp; Progress Module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Displays career recommendations, skill-match percentage, and analysis results for user reference.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5B223F4C-44D9-E355-D0B5-44E54C6A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40EB7660-3976-739C-D6EA-BBED643CC3D0}"/>
              </a:ext>
            </a:extLst>
          </p:cNvPr>
          <p:cNvSpPr txBox="1"/>
          <p:nvPr/>
        </p:nvSpPr>
        <p:spPr>
          <a:xfrm>
            <a:off x="2812605" y="47864"/>
            <a:ext cx="55155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EA80F-DE35-9678-E1C4-E30CFCBF4569}"/>
              </a:ext>
            </a:extLst>
          </p:cNvPr>
          <p:cNvSpPr txBox="1"/>
          <p:nvPr/>
        </p:nvSpPr>
        <p:spPr>
          <a:xfrm>
            <a:off x="2812605" y="472809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46DA1-C9DC-D3B3-C758-2E859365A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71" y="720844"/>
            <a:ext cx="6866858" cy="400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44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2EAE42C-B999-42C8-3E62-65F5AF1D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72545401-029E-70A4-0009-D2A33A6726B8}"/>
              </a:ext>
            </a:extLst>
          </p:cNvPr>
          <p:cNvSpPr txBox="1"/>
          <p:nvPr/>
        </p:nvSpPr>
        <p:spPr>
          <a:xfrm>
            <a:off x="2163655" y="161654"/>
            <a:ext cx="55155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06A88-760D-A252-0381-BF109D12E3EB}"/>
              </a:ext>
            </a:extLst>
          </p:cNvPr>
          <p:cNvSpPr txBox="1"/>
          <p:nvPr/>
        </p:nvSpPr>
        <p:spPr>
          <a:xfrm>
            <a:off x="2635405" y="47048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98342E-3FE9-185B-4DC3-35A88DF6C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06187"/>
              </p:ext>
            </p:extLst>
          </p:nvPr>
        </p:nvGraphicFramePr>
        <p:xfrm>
          <a:off x="519847" y="1008445"/>
          <a:ext cx="8104305" cy="3322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8221">
                  <a:extLst>
                    <a:ext uri="{9D8B030D-6E8A-4147-A177-3AD203B41FA5}">
                      <a16:colId xmlns:a16="http://schemas.microsoft.com/office/drawing/2014/main" val="1442386675"/>
                    </a:ext>
                  </a:extLst>
                </a:gridCol>
                <a:gridCol w="3164649">
                  <a:extLst>
                    <a:ext uri="{9D8B030D-6E8A-4147-A177-3AD203B41FA5}">
                      <a16:colId xmlns:a16="http://schemas.microsoft.com/office/drawing/2014/main" val="2853396955"/>
                    </a:ext>
                  </a:extLst>
                </a:gridCol>
                <a:gridCol w="2701435">
                  <a:extLst>
                    <a:ext uri="{9D8B030D-6E8A-4147-A177-3AD203B41FA5}">
                      <a16:colId xmlns:a16="http://schemas.microsoft.com/office/drawing/2014/main" val="412185067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7711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 &amp; dashboard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823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 + Express.js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APIs &amp; application logic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8750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data &amp; analysis history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0065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Layer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+ Scikit-learn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matching &amp; career prediction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32186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+ Cosine Similarity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matching &amp; similarity analysis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070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Algorithm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Career role prediction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6297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+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bcrypt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login &amp; authentication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018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Processing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 Text Extraction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 skills from resumes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7910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API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Frontend–Backend integration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348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17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/>
        </p:nvSpPr>
        <p:spPr>
          <a:xfrm>
            <a:off x="2620537" y="193288"/>
            <a:ext cx="6362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6DAA5-26D0-693C-8A52-325C1A2128CC}"/>
              </a:ext>
            </a:extLst>
          </p:cNvPr>
          <p:cNvSpPr txBox="1"/>
          <p:nvPr/>
        </p:nvSpPr>
        <p:spPr>
          <a:xfrm>
            <a:off x="2620537" y="47271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2C8471-5A63-B8B3-E8E0-67B22442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9" y="1011222"/>
            <a:ext cx="4001758" cy="26686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EBA8543-C7BC-7F44-B2F6-1E14589D5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135" y="1011221"/>
            <a:ext cx="3789227" cy="273558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1FBA259-C262-064D-A5CB-0065ECA8866D}"/>
              </a:ext>
            </a:extLst>
          </p:cNvPr>
          <p:cNvSpPr txBox="1"/>
          <p:nvPr/>
        </p:nvSpPr>
        <p:spPr>
          <a:xfrm>
            <a:off x="955288" y="3825841"/>
            <a:ext cx="3192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analysis page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5E2ECF-7FD3-A583-DE4F-2A03E99610EC}"/>
              </a:ext>
            </a:extLst>
          </p:cNvPr>
          <p:cNvSpPr txBox="1"/>
          <p:nvPr/>
        </p:nvSpPr>
        <p:spPr>
          <a:xfrm>
            <a:off x="5713142" y="3786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en-IN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4007B620-0651-C1F5-BD40-04A48DF3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>
            <a:extLst>
              <a:ext uri="{FF2B5EF4-FFF2-40B4-BE49-F238E27FC236}">
                <a16:creationId xmlns:a16="http://schemas.microsoft.com/office/drawing/2014/main" id="{5AB23403-79D8-6FA5-718A-088FF02960D4}"/>
              </a:ext>
            </a:extLst>
          </p:cNvPr>
          <p:cNvSpPr txBox="1"/>
          <p:nvPr/>
        </p:nvSpPr>
        <p:spPr>
          <a:xfrm>
            <a:off x="2620537" y="193288"/>
            <a:ext cx="6362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B9CC2-1272-B499-119F-DC0F9541FB7D}"/>
              </a:ext>
            </a:extLst>
          </p:cNvPr>
          <p:cNvSpPr txBox="1"/>
          <p:nvPr/>
        </p:nvSpPr>
        <p:spPr>
          <a:xfrm>
            <a:off x="2620537" y="47271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FE2C2F-4CD8-A430-4AFA-BCB5A77C0371}"/>
              </a:ext>
            </a:extLst>
          </p:cNvPr>
          <p:cNvSpPr txBox="1"/>
          <p:nvPr/>
        </p:nvSpPr>
        <p:spPr>
          <a:xfrm>
            <a:off x="955288" y="3825841"/>
            <a:ext cx="3192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Requirement Page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68F386-169D-9512-F4C8-537ED1860CA1}"/>
              </a:ext>
            </a:extLst>
          </p:cNvPr>
          <p:cNvSpPr txBox="1"/>
          <p:nvPr/>
        </p:nvSpPr>
        <p:spPr>
          <a:xfrm>
            <a:off x="5713142" y="3786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analysis page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B1CF3-261C-8219-D47A-8F82A2C5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28" y="1011220"/>
            <a:ext cx="4356411" cy="2735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B0246D-0206-7D4D-28DF-146159F1E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589" y="1011220"/>
            <a:ext cx="3969835" cy="273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6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8F1140D-F6CE-0DA1-5EE9-5549F59E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8F7B49BF-A5E3-AE59-CB44-C978A0B3E525}"/>
              </a:ext>
            </a:extLst>
          </p:cNvPr>
          <p:cNvSpPr txBox="1"/>
          <p:nvPr/>
        </p:nvSpPr>
        <p:spPr>
          <a:xfrm>
            <a:off x="805911" y="329538"/>
            <a:ext cx="8090212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PUBLICATION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B0CC5-964E-43C5-13E5-8530B0C7334A}"/>
              </a:ext>
            </a:extLst>
          </p:cNvPr>
          <p:cNvSpPr txBox="1"/>
          <p:nvPr/>
        </p:nvSpPr>
        <p:spPr>
          <a:xfrm>
            <a:off x="1057835" y="1028310"/>
            <a:ext cx="70283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ICAIDIET’26 – International Conference on AI-Driven Innovation in Engineering and Technology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Publishing Partner: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Wiley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Indexing: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Paper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Skill Gap Analysis and Career Recommendation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Submitted → Accepted →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Yet to be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: Rehan Krishnan S (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Department of CSE)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Sri Varshan B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2. Shreenithy R 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3. Shri Raja Hari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Stage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Yet to be Completed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ICAIDIET’26 → Preparing for Conference Presentation</a:t>
            </a:r>
          </a:p>
          <a:p>
            <a:pPr lvl="2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D2E5-7836-EB7C-A542-E2427A1323E7}"/>
              </a:ext>
            </a:extLst>
          </p:cNvPr>
          <p:cNvSpPr txBox="1"/>
          <p:nvPr/>
        </p:nvSpPr>
        <p:spPr>
          <a:xfrm>
            <a:off x="2565017" y="466782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</p:spTree>
    <p:extLst>
      <p:ext uri="{BB962C8B-B14F-4D97-AF65-F5344CB8AC3E}">
        <p14:creationId xmlns:p14="http://schemas.microsoft.com/office/powerpoint/2010/main" val="715087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5765-036D-F116-8DBF-D93544FDB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865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E38E-A5D2-68B6-958B-56E8A9BDA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490" y="1207110"/>
            <a:ext cx="2984632" cy="192253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individual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learning roadmap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progress tracking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&amp; Economic Growth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identify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career roles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alignment between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and job requirements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readiness and employability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965A-4C1C-0AD6-C286-9BC821D0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2CDE-7D89-ED3A-DD5F-A6AC5693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|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37E28-F2AB-0F34-9638-E34F782B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15</a:t>
            </a:fld>
            <a:endParaRPr lang="en-IN"/>
          </a:p>
        </p:txBody>
      </p:sp>
      <p:pic>
        <p:nvPicPr>
          <p:cNvPr id="1026" name="Picture 2" descr="Sustainable Development Goals | Elementary Education | Government Of Assam,  India">
            <a:extLst>
              <a:ext uri="{FF2B5EF4-FFF2-40B4-BE49-F238E27FC236}">
                <a16:creationId xmlns:a16="http://schemas.microsoft.com/office/drawing/2014/main" id="{BA4EB6F3-DBB1-5B50-268E-B1A9BD461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7" b="2042"/>
          <a:stretch/>
        </p:blipFill>
        <p:spPr bwMode="auto">
          <a:xfrm>
            <a:off x="710425" y="1373006"/>
            <a:ext cx="5036170" cy="293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07701F-94A0-CD0D-6E70-65ACEA812199}"/>
              </a:ext>
            </a:extLst>
          </p:cNvPr>
          <p:cNvSpPr txBox="1"/>
          <p:nvPr/>
        </p:nvSpPr>
        <p:spPr>
          <a:xfrm>
            <a:off x="2635405" y="47048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</p:spTree>
    <p:extLst>
      <p:ext uri="{BB962C8B-B14F-4D97-AF65-F5344CB8AC3E}">
        <p14:creationId xmlns:p14="http://schemas.microsoft.com/office/powerpoint/2010/main" val="531463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5FB79368-712C-9684-6519-6463AB3C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54581F41-2BD6-F2B7-EFC1-5E91B2F5D73C}"/>
              </a:ext>
            </a:extLst>
          </p:cNvPr>
          <p:cNvSpPr txBox="1"/>
          <p:nvPr/>
        </p:nvSpPr>
        <p:spPr>
          <a:xfrm>
            <a:off x="805911" y="329538"/>
            <a:ext cx="8090212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ECA6F-A2D6-BE85-6A75-CE36AAC461ED}"/>
              </a:ext>
            </a:extLst>
          </p:cNvPr>
          <p:cNvSpPr txBox="1"/>
          <p:nvPr/>
        </p:nvSpPr>
        <p:spPr>
          <a:xfrm>
            <a:off x="805911" y="1042306"/>
            <a:ext cx="763068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 for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prediction &amp; skill-gap analysis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+ Cosine Similarity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skill matching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career role prediction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roadmap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progress tracking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skill understanding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job market integration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&amp; personalized recommendations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career analytics</a:t>
            </a:r>
          </a:p>
          <a:p>
            <a:pPr lvl="2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0AE06-E13C-F799-C020-9E1AEFE3D616}"/>
              </a:ext>
            </a:extLst>
          </p:cNvPr>
          <p:cNvSpPr txBox="1"/>
          <p:nvPr/>
        </p:nvSpPr>
        <p:spPr>
          <a:xfrm>
            <a:off x="2635405" y="47048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</p:spTree>
    <p:extLst>
      <p:ext uri="{BB962C8B-B14F-4D97-AF65-F5344CB8AC3E}">
        <p14:creationId xmlns:p14="http://schemas.microsoft.com/office/powerpoint/2010/main" val="1034513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2781900" y="321546"/>
            <a:ext cx="6362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endParaRPr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D5AAE-0CA6-8CF0-04A8-CEF62522B533}"/>
              </a:ext>
            </a:extLst>
          </p:cNvPr>
          <p:cNvSpPr txBox="1"/>
          <p:nvPr/>
        </p:nvSpPr>
        <p:spPr>
          <a:xfrm>
            <a:off x="1048215" y="1241502"/>
            <a:ext cx="7434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Ashrafi et al. (2023) —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Recommendation &amp; Learning Path using TF-IDF and K-Means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Rajput et al. (2024) —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Analysis &amp; Job Recommendation using SVM and Cosine Similarity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 &amp; Singh (2024) —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Skill Extraction &amp; Matching using Gemini and PyPDF2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Chandak et al. (2024) —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&amp; Job Recommendation using TF-IDF and Cosine Similarity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Decorte et al. (2025) —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Skill Extraction using Bi-Encoder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Anghel et al. (2025) —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Resume–Job Matching using BERT,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SHAP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DB81B-FFDB-4DB1-0EDC-9407D749B8A0}"/>
              </a:ext>
            </a:extLst>
          </p:cNvPr>
          <p:cNvSpPr txBox="1"/>
          <p:nvPr/>
        </p:nvSpPr>
        <p:spPr>
          <a:xfrm>
            <a:off x="2658653" y="46506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Dept. of  CSE | Batch – XI | Final Review |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1411</Words>
  <Application>Microsoft Office PowerPoint</Application>
  <PresentationFormat>On-screen Show (16:9)</PresentationFormat>
  <Paragraphs>171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Sustainable Development Goals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Shreenithy Shanmugharaj</dc:creator>
  <cp:lastModifiedBy>Shreenithy Shanmugharaj</cp:lastModifiedBy>
  <cp:revision>17</cp:revision>
  <dcterms:modified xsi:type="dcterms:W3CDTF">2026-09-29T11:22:30Z</dcterms:modified>
</cp:coreProperties>
</file>